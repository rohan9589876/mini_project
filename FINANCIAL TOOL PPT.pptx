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BM Plex Sans Medium" panose="020B0603050203000203" pitchFamily="34" charset="0"/>
      <p:regular r:id="rId17"/>
    </p:embeddedFont>
    <p:embeddedFont>
      <p:font typeface="Roboto" panose="02000000000000000000" pitchFamily="2" charset="0"/>
      <p:regular r:id="rId18"/>
    </p:embeddedFont>
    <p:embeddedFont>
      <p:font typeface="Roboto Bold" panose="020B0604020202020204" charset="0"/>
      <p:regular r:id="rId19"/>
    </p:embeddedFont>
    <p:embeddedFont>
      <p:font typeface="Roboto Bold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049015" y="9686925"/>
            <a:ext cx="2153260" cy="514350"/>
            <a:chOff x="0" y="0"/>
            <a:chExt cx="2871013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344275" y="438523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2340413"/>
            <a:ext cx="9445523" cy="179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Personal Finance Tool Using C Programming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804926"/>
            <a:ext cx="9445523" cy="33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6"/>
              </a:lnSpc>
            </a:pPr>
            <a:r>
              <a:rPr lang="en-US" sz="23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Presented by: </a:t>
            </a:r>
          </a:p>
          <a:p>
            <a:pPr algn="l">
              <a:lnSpc>
                <a:spcPts val="3886"/>
              </a:lnSpc>
            </a:pPr>
            <a:r>
              <a:rPr lang="en-US" sz="23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 Arnav Raghuvanshi:1262253103</a:t>
            </a:r>
          </a:p>
          <a:p>
            <a:pPr algn="l">
              <a:lnSpc>
                <a:spcPts val="3886"/>
              </a:lnSpc>
            </a:pPr>
            <a:r>
              <a:rPr lang="en-US" sz="23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 Archit Nikam:1262254037</a:t>
            </a:r>
          </a:p>
          <a:p>
            <a:pPr algn="l">
              <a:lnSpc>
                <a:spcPts val="3886"/>
              </a:lnSpc>
            </a:pPr>
            <a:r>
              <a:rPr lang="en-US" sz="23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 Rohan Kulkarni:1262253943</a:t>
            </a:r>
          </a:p>
          <a:p>
            <a:pPr algn="l">
              <a:lnSpc>
                <a:spcPts val="3886"/>
              </a:lnSpc>
            </a:pPr>
            <a:r>
              <a:rPr lang="en-US" sz="23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 Narayani Deshpande:1262252444</a:t>
            </a:r>
          </a:p>
          <a:p>
            <a:pPr algn="l">
              <a:lnSpc>
                <a:spcPts val="3886"/>
              </a:lnSpc>
            </a:pPr>
            <a:r>
              <a:rPr lang="en-US" sz="23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  Dhruv Agarwal:1262253305</a:t>
            </a:r>
          </a:p>
          <a:p>
            <a:pPr algn="l">
              <a:lnSpc>
                <a:spcPts val="3888"/>
              </a:lnSpc>
            </a:pPr>
            <a:endParaRPr lang="en-US" sz="2387">
              <a:solidFill>
                <a:srgbClr val="D4D4D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6461" y="-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232866"/>
            <a:ext cx="9755029" cy="76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4937" b="1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Introduction to Financial Planning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3000" y="2756015"/>
            <a:ext cx="16303523" cy="483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7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Financial planning is the process of managing income and expenses to achieve financial goals. It includes: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373385"/>
            <a:ext cx="16303523" cy="2026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5145" lvl="1" indent="-187573" algn="l">
              <a:lnSpc>
                <a:spcPts val="4051"/>
              </a:lnSpc>
              <a:buFont typeface="Arial"/>
              <a:buChar char="•"/>
            </a:pPr>
            <a:r>
              <a:rPr lang="en-US" sz="2487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Tracking income</a:t>
            </a:r>
          </a:p>
          <a:p>
            <a:pPr marL="375145" lvl="1" indent="-187573" algn="l">
              <a:lnSpc>
                <a:spcPts val="4051"/>
              </a:lnSpc>
              <a:buFont typeface="Arial"/>
              <a:buChar char="•"/>
            </a:pPr>
            <a:r>
              <a:rPr lang="en-US" sz="2487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Controlling expenses</a:t>
            </a:r>
          </a:p>
          <a:p>
            <a:pPr marL="375145" lvl="1" indent="-187573" algn="l">
              <a:lnSpc>
                <a:spcPts val="4051"/>
              </a:lnSpc>
              <a:buFont typeface="Arial"/>
              <a:buChar char="•"/>
            </a:pPr>
            <a:r>
              <a:rPr lang="en-US" sz="2487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Saving &amp; investing</a:t>
            </a:r>
          </a:p>
          <a:p>
            <a:pPr marL="375145" lvl="1" indent="-187573" algn="l">
              <a:lnSpc>
                <a:spcPts val="4051"/>
              </a:lnSpc>
              <a:buFont typeface="Arial"/>
              <a:buChar char="•"/>
            </a:pPr>
            <a:r>
              <a:rPr lang="en-US" sz="2487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Managing debt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608001"/>
            <a:ext cx="16303523" cy="483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2487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Proper planning ensures financial stability and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009650"/>
            <a:ext cx="7088238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Need for the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245366"/>
            <a:ext cx="16303523" cy="516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3"/>
              </a:lnSpc>
            </a:pPr>
            <a:r>
              <a:rPr lang="en-US" sz="25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Common financial problems people face: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3182218"/>
            <a:ext cx="8009934" cy="1009945"/>
            <a:chOff x="0" y="0"/>
            <a:chExt cx="10679913" cy="13465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79811" cy="1346454"/>
            </a:xfrm>
            <a:custGeom>
              <a:avLst/>
              <a:gdLst/>
              <a:ahLst/>
              <a:cxnLst/>
              <a:rect l="l" t="t" r="r" b="b"/>
              <a:pathLst>
                <a:path w="10679811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1289812"/>
                  </a:lnTo>
                  <a:cubicBezTo>
                    <a:pt x="10679811" y="1321181"/>
                    <a:pt x="10654411" y="1346454"/>
                    <a:pt x="10623169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823913" y="3456210"/>
            <a:ext cx="4558751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No money left at month-end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49223" y="3182218"/>
            <a:ext cx="8010077" cy="1009945"/>
            <a:chOff x="0" y="0"/>
            <a:chExt cx="10680103" cy="134659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80065" cy="1346454"/>
            </a:xfrm>
            <a:custGeom>
              <a:avLst/>
              <a:gdLst/>
              <a:ahLst/>
              <a:cxnLst/>
              <a:rect l="l" t="t" r="r" b="b"/>
              <a:pathLst>
                <a:path w="10680065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1289812"/>
                  </a:lnTo>
                  <a:cubicBezTo>
                    <a:pt x="10680065" y="1321181"/>
                    <a:pt x="10654665" y="1346454"/>
                    <a:pt x="10623423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080815" y="3456210"/>
            <a:ext cx="4601318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Living paycheck to paycheck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5143500"/>
            <a:ext cx="8009934" cy="1009945"/>
            <a:chOff x="0" y="0"/>
            <a:chExt cx="10679913" cy="134659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79811" cy="1346454"/>
            </a:xfrm>
            <a:custGeom>
              <a:avLst/>
              <a:gdLst/>
              <a:ahLst/>
              <a:cxnLst/>
              <a:rect l="l" t="t" r="r" b="b"/>
              <a:pathLst>
                <a:path w="10679811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1289812"/>
                  </a:lnTo>
                  <a:cubicBezTo>
                    <a:pt x="10679811" y="1321181"/>
                    <a:pt x="10654411" y="1346454"/>
                    <a:pt x="10623169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823913" y="541749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High EMI burden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85684" y="5143500"/>
            <a:ext cx="8010077" cy="1009945"/>
            <a:chOff x="0" y="0"/>
            <a:chExt cx="10680103" cy="134659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80065" cy="1346454"/>
            </a:xfrm>
            <a:custGeom>
              <a:avLst/>
              <a:gdLst/>
              <a:ahLst/>
              <a:cxnLst/>
              <a:rect l="l" t="t" r="r" b="b"/>
              <a:pathLst>
                <a:path w="10680065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1289812"/>
                  </a:lnTo>
                  <a:cubicBezTo>
                    <a:pt x="10680065" y="1321181"/>
                    <a:pt x="10654665" y="1346454"/>
                    <a:pt x="10623423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0190446" y="541749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Low savings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3923" y="7001170"/>
            <a:ext cx="16303523" cy="46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Our Personal Finance Tool helps solve these problems through structured budgeting.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165293"/>
            <a:ext cx="10468566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Income &amp; Expense Management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970502"/>
            <a:ext cx="3589287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Enter Monthly Income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830472"/>
            <a:ext cx="7805890" cy="110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Primary income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Secondary income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6232868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→ System calculates total income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89501" y="2970502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Enter Fixed Expenses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7859" y="3724342"/>
            <a:ext cx="7805890" cy="2207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EMI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Rent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Utilities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Insurance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89501" y="6232868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→ System calculates total expenses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37032" y="0"/>
            <a:ext cx="18288000" cy="10287000"/>
            <a:chOff x="93055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93055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009650"/>
            <a:ext cx="10334625" cy="90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Validation &amp; Disposable Income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5109" y="2673497"/>
            <a:ext cx="6459741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Validate Financial Inputs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5109" y="3507005"/>
            <a:ext cx="16303523" cy="1101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No negative values</a:t>
            </a:r>
          </a:p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Expenses must not exceed income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0866" y="4719733"/>
            <a:ext cx="7440959" cy="727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Calculate Remaining Income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310044" y="6274383"/>
            <a:ext cx="16303561" cy="491586"/>
            <a:chOff x="-94608" y="-23605"/>
            <a:chExt cx="21738082" cy="655447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-94608" y="-23605"/>
              <a:ext cx="21738082" cy="655447"/>
            </a:xfrm>
            <a:custGeom>
              <a:avLst/>
              <a:gdLst/>
              <a:ahLst/>
              <a:cxnLst/>
              <a:rect l="l" t="t" r="r" b="b"/>
              <a:pathLst>
                <a:path w="21738082" h="655447">
                  <a:moveTo>
                    <a:pt x="0" y="0"/>
                  </a:moveTo>
                  <a:lnTo>
                    <a:pt x="21738082" y="0"/>
                  </a:lnTo>
                  <a:lnTo>
                    <a:pt x="21738082" y="655447"/>
                  </a:lnTo>
                  <a:lnTo>
                    <a:pt x="0" y="655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68" b="-368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143000" y="7675974"/>
            <a:ext cx="16303523" cy="46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2387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This amount is used for budgeting.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3501" y="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09790" y="636761"/>
            <a:ext cx="9425583" cy="84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4"/>
              </a:lnSpc>
            </a:pPr>
            <a:r>
              <a:rPr lang="en-US" sz="5487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Budgeting Model &amp; Allocation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9790" y="2378716"/>
            <a:ext cx="5161959" cy="56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600" b="1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Select Budgeting Model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9685" y="3468291"/>
            <a:ext cx="7971682" cy="1488281"/>
            <a:chOff x="0" y="0"/>
            <a:chExt cx="10628909" cy="1984375"/>
          </a:xfrm>
        </p:grpSpPr>
        <p:sp>
          <p:nvSpPr>
            <p:cNvPr id="9" name="Freeform 9"/>
            <p:cNvSpPr/>
            <p:nvPr/>
          </p:nvSpPr>
          <p:spPr>
            <a:xfrm>
              <a:off x="19050" y="19050"/>
              <a:ext cx="10590784" cy="1946275"/>
            </a:xfrm>
            <a:custGeom>
              <a:avLst/>
              <a:gdLst/>
              <a:ahLst/>
              <a:cxnLst/>
              <a:rect l="l" t="t" r="r" b="b"/>
              <a:pathLst>
                <a:path w="10590784" h="1946275">
                  <a:moveTo>
                    <a:pt x="0" y="47752"/>
                  </a:moveTo>
                  <a:cubicBezTo>
                    <a:pt x="0" y="21336"/>
                    <a:pt x="21717" y="0"/>
                    <a:pt x="48514" y="0"/>
                  </a:cubicBezTo>
                  <a:lnTo>
                    <a:pt x="10542270" y="0"/>
                  </a:lnTo>
                  <a:cubicBezTo>
                    <a:pt x="10569067" y="0"/>
                    <a:pt x="10590784" y="21336"/>
                    <a:pt x="10590784" y="47752"/>
                  </a:cubicBezTo>
                  <a:lnTo>
                    <a:pt x="10590784" y="1898523"/>
                  </a:lnTo>
                  <a:cubicBezTo>
                    <a:pt x="10590784" y="1924939"/>
                    <a:pt x="10569067" y="1946275"/>
                    <a:pt x="10542270" y="1946275"/>
                  </a:cubicBezTo>
                  <a:lnTo>
                    <a:pt x="48514" y="1946275"/>
                  </a:lnTo>
                  <a:cubicBezTo>
                    <a:pt x="21717" y="1946275"/>
                    <a:pt x="0" y="1924939"/>
                    <a:pt x="0" y="1898523"/>
                  </a:cubicBezTo>
                  <a:close/>
                </a:path>
              </a:pathLst>
            </a:custGeom>
            <a:solidFill>
              <a:srgbClr val="292C32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0628884" cy="1984375"/>
            </a:xfrm>
            <a:custGeom>
              <a:avLst/>
              <a:gdLst/>
              <a:ahLst/>
              <a:cxnLst/>
              <a:rect l="l" t="t" r="r" b="b"/>
              <a:pathLst>
                <a:path w="10628884" h="1984375">
                  <a:moveTo>
                    <a:pt x="0" y="66802"/>
                  </a:moveTo>
                  <a:cubicBezTo>
                    <a:pt x="0" y="29591"/>
                    <a:pt x="30480" y="0"/>
                    <a:pt x="67564" y="0"/>
                  </a:cubicBezTo>
                  <a:lnTo>
                    <a:pt x="10561320" y="0"/>
                  </a:lnTo>
                  <a:lnTo>
                    <a:pt x="10561320" y="19050"/>
                  </a:lnTo>
                  <a:lnTo>
                    <a:pt x="10561320" y="0"/>
                  </a:lnTo>
                  <a:cubicBezTo>
                    <a:pt x="10598403" y="0"/>
                    <a:pt x="10628884" y="29591"/>
                    <a:pt x="10628884" y="66802"/>
                  </a:cubicBezTo>
                  <a:lnTo>
                    <a:pt x="10609834" y="66802"/>
                  </a:lnTo>
                  <a:lnTo>
                    <a:pt x="10628884" y="66802"/>
                  </a:lnTo>
                  <a:lnTo>
                    <a:pt x="10628884" y="1917573"/>
                  </a:lnTo>
                  <a:lnTo>
                    <a:pt x="10609834" y="1917573"/>
                  </a:lnTo>
                  <a:lnTo>
                    <a:pt x="10628884" y="1917573"/>
                  </a:lnTo>
                  <a:cubicBezTo>
                    <a:pt x="10628884" y="1954784"/>
                    <a:pt x="10598403" y="1984375"/>
                    <a:pt x="10561320" y="1984375"/>
                  </a:cubicBezTo>
                  <a:lnTo>
                    <a:pt x="10561320" y="1965325"/>
                  </a:lnTo>
                  <a:lnTo>
                    <a:pt x="10561320" y="1984375"/>
                  </a:lnTo>
                  <a:lnTo>
                    <a:pt x="67564" y="1984375"/>
                  </a:lnTo>
                  <a:lnTo>
                    <a:pt x="67564" y="1965325"/>
                  </a:lnTo>
                  <a:lnTo>
                    <a:pt x="67564" y="1984375"/>
                  </a:lnTo>
                  <a:cubicBezTo>
                    <a:pt x="30480" y="1984375"/>
                    <a:pt x="0" y="1954784"/>
                    <a:pt x="0" y="1917573"/>
                  </a:cubicBezTo>
                  <a:lnTo>
                    <a:pt x="0" y="66802"/>
                  </a:lnTo>
                  <a:lnTo>
                    <a:pt x="19050" y="66802"/>
                  </a:lnTo>
                  <a:lnTo>
                    <a:pt x="0" y="66802"/>
                  </a:lnTo>
                  <a:moveTo>
                    <a:pt x="38100" y="66802"/>
                  </a:moveTo>
                  <a:lnTo>
                    <a:pt x="38100" y="1917573"/>
                  </a:lnTo>
                  <a:lnTo>
                    <a:pt x="19050" y="1917573"/>
                  </a:lnTo>
                  <a:lnTo>
                    <a:pt x="38100" y="1917573"/>
                  </a:lnTo>
                  <a:cubicBezTo>
                    <a:pt x="38100" y="1933194"/>
                    <a:pt x="51054" y="1946275"/>
                    <a:pt x="67564" y="1946275"/>
                  </a:cubicBezTo>
                  <a:lnTo>
                    <a:pt x="10561320" y="1946275"/>
                  </a:lnTo>
                  <a:cubicBezTo>
                    <a:pt x="10577830" y="1946275"/>
                    <a:pt x="10590784" y="1933194"/>
                    <a:pt x="10590784" y="1917573"/>
                  </a:cubicBezTo>
                  <a:lnTo>
                    <a:pt x="10590784" y="66802"/>
                  </a:lnTo>
                  <a:cubicBezTo>
                    <a:pt x="10590784" y="51181"/>
                    <a:pt x="10577830" y="38100"/>
                    <a:pt x="10561320" y="38100"/>
                  </a:cubicBezTo>
                  <a:lnTo>
                    <a:pt x="67564" y="38100"/>
                  </a:lnTo>
                  <a:lnTo>
                    <a:pt x="67564" y="19050"/>
                  </a:lnTo>
                  <a:lnTo>
                    <a:pt x="67564" y="38100"/>
                  </a:lnTo>
                  <a:cubicBezTo>
                    <a:pt x="51054" y="38100"/>
                    <a:pt x="38100" y="51181"/>
                    <a:pt x="38100" y="66802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176928" y="3468291"/>
            <a:ext cx="2983411" cy="3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Balanced Budget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6928" y="3994394"/>
            <a:ext cx="7408812" cy="40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 moderate approach, balancing saving and spending.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95502" y="4856855"/>
            <a:ext cx="7971682" cy="1488281"/>
            <a:chOff x="0" y="0"/>
            <a:chExt cx="10628909" cy="1984375"/>
          </a:xfrm>
        </p:grpSpPr>
        <p:sp>
          <p:nvSpPr>
            <p:cNvPr id="14" name="Freeform 14"/>
            <p:cNvSpPr/>
            <p:nvPr/>
          </p:nvSpPr>
          <p:spPr>
            <a:xfrm>
              <a:off x="19050" y="19050"/>
              <a:ext cx="10590784" cy="1946275"/>
            </a:xfrm>
            <a:custGeom>
              <a:avLst/>
              <a:gdLst/>
              <a:ahLst/>
              <a:cxnLst/>
              <a:rect l="l" t="t" r="r" b="b"/>
              <a:pathLst>
                <a:path w="10590784" h="1946275">
                  <a:moveTo>
                    <a:pt x="0" y="47752"/>
                  </a:moveTo>
                  <a:cubicBezTo>
                    <a:pt x="0" y="21336"/>
                    <a:pt x="21717" y="0"/>
                    <a:pt x="48514" y="0"/>
                  </a:cubicBezTo>
                  <a:lnTo>
                    <a:pt x="10542270" y="0"/>
                  </a:lnTo>
                  <a:cubicBezTo>
                    <a:pt x="10569067" y="0"/>
                    <a:pt x="10590784" y="21336"/>
                    <a:pt x="10590784" y="47752"/>
                  </a:cubicBezTo>
                  <a:lnTo>
                    <a:pt x="10590784" y="1898523"/>
                  </a:lnTo>
                  <a:cubicBezTo>
                    <a:pt x="10590784" y="1924939"/>
                    <a:pt x="10569067" y="1946275"/>
                    <a:pt x="10542270" y="1946275"/>
                  </a:cubicBezTo>
                  <a:lnTo>
                    <a:pt x="48514" y="1946275"/>
                  </a:lnTo>
                  <a:cubicBezTo>
                    <a:pt x="21717" y="1946275"/>
                    <a:pt x="0" y="1924939"/>
                    <a:pt x="0" y="1898523"/>
                  </a:cubicBezTo>
                  <a:close/>
                </a:path>
              </a:pathLst>
            </a:custGeom>
            <a:solidFill>
              <a:srgbClr val="292C32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10628884" cy="1984375"/>
            </a:xfrm>
            <a:custGeom>
              <a:avLst/>
              <a:gdLst/>
              <a:ahLst/>
              <a:cxnLst/>
              <a:rect l="l" t="t" r="r" b="b"/>
              <a:pathLst>
                <a:path w="10628884" h="1984375">
                  <a:moveTo>
                    <a:pt x="0" y="66802"/>
                  </a:moveTo>
                  <a:cubicBezTo>
                    <a:pt x="0" y="29591"/>
                    <a:pt x="30480" y="0"/>
                    <a:pt x="67564" y="0"/>
                  </a:cubicBezTo>
                  <a:lnTo>
                    <a:pt x="10561320" y="0"/>
                  </a:lnTo>
                  <a:lnTo>
                    <a:pt x="10561320" y="19050"/>
                  </a:lnTo>
                  <a:lnTo>
                    <a:pt x="10561320" y="0"/>
                  </a:lnTo>
                  <a:cubicBezTo>
                    <a:pt x="10598403" y="0"/>
                    <a:pt x="10628884" y="29591"/>
                    <a:pt x="10628884" y="66802"/>
                  </a:cubicBezTo>
                  <a:lnTo>
                    <a:pt x="10609834" y="66802"/>
                  </a:lnTo>
                  <a:lnTo>
                    <a:pt x="10628884" y="66802"/>
                  </a:lnTo>
                  <a:lnTo>
                    <a:pt x="10628884" y="1917573"/>
                  </a:lnTo>
                  <a:lnTo>
                    <a:pt x="10609834" y="1917573"/>
                  </a:lnTo>
                  <a:lnTo>
                    <a:pt x="10628884" y="1917573"/>
                  </a:lnTo>
                  <a:cubicBezTo>
                    <a:pt x="10628884" y="1954784"/>
                    <a:pt x="10598403" y="1984375"/>
                    <a:pt x="10561320" y="1984375"/>
                  </a:cubicBezTo>
                  <a:lnTo>
                    <a:pt x="10561320" y="1965325"/>
                  </a:lnTo>
                  <a:lnTo>
                    <a:pt x="10561320" y="1984375"/>
                  </a:lnTo>
                  <a:lnTo>
                    <a:pt x="67564" y="1984375"/>
                  </a:lnTo>
                  <a:lnTo>
                    <a:pt x="67564" y="1965325"/>
                  </a:lnTo>
                  <a:lnTo>
                    <a:pt x="67564" y="1984375"/>
                  </a:lnTo>
                  <a:cubicBezTo>
                    <a:pt x="30480" y="1984375"/>
                    <a:pt x="0" y="1954784"/>
                    <a:pt x="0" y="1917573"/>
                  </a:cubicBezTo>
                  <a:lnTo>
                    <a:pt x="0" y="66802"/>
                  </a:lnTo>
                  <a:lnTo>
                    <a:pt x="19050" y="66802"/>
                  </a:lnTo>
                  <a:lnTo>
                    <a:pt x="0" y="66802"/>
                  </a:lnTo>
                  <a:moveTo>
                    <a:pt x="38100" y="66802"/>
                  </a:moveTo>
                  <a:lnTo>
                    <a:pt x="38100" y="1917573"/>
                  </a:lnTo>
                  <a:lnTo>
                    <a:pt x="19050" y="1917573"/>
                  </a:lnTo>
                  <a:lnTo>
                    <a:pt x="38100" y="1917573"/>
                  </a:lnTo>
                  <a:cubicBezTo>
                    <a:pt x="38100" y="1933194"/>
                    <a:pt x="51054" y="1946275"/>
                    <a:pt x="67564" y="1946275"/>
                  </a:cubicBezTo>
                  <a:lnTo>
                    <a:pt x="10561320" y="1946275"/>
                  </a:lnTo>
                  <a:cubicBezTo>
                    <a:pt x="10577830" y="1946275"/>
                    <a:pt x="10590784" y="1933194"/>
                    <a:pt x="10590784" y="1917573"/>
                  </a:cubicBezTo>
                  <a:lnTo>
                    <a:pt x="10590784" y="66802"/>
                  </a:lnTo>
                  <a:cubicBezTo>
                    <a:pt x="10590784" y="51181"/>
                    <a:pt x="10577830" y="38100"/>
                    <a:pt x="10561320" y="38100"/>
                  </a:cubicBezTo>
                  <a:lnTo>
                    <a:pt x="67564" y="38100"/>
                  </a:lnTo>
                  <a:lnTo>
                    <a:pt x="67564" y="19050"/>
                  </a:lnTo>
                  <a:lnTo>
                    <a:pt x="67564" y="38100"/>
                  </a:lnTo>
                  <a:cubicBezTo>
                    <a:pt x="51054" y="38100"/>
                    <a:pt x="38100" y="51181"/>
                    <a:pt x="38100" y="66802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176928" y="5128765"/>
            <a:ext cx="2983411" cy="3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Aggressive Saving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6928" y="5654878"/>
            <a:ext cx="7408812" cy="40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Prioritizes maximum savings for rapid wealth accumulation.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95502" y="6517329"/>
            <a:ext cx="7971682" cy="1839963"/>
            <a:chOff x="0" y="0"/>
            <a:chExt cx="10628909" cy="2453284"/>
          </a:xfrm>
        </p:grpSpPr>
        <p:sp>
          <p:nvSpPr>
            <p:cNvPr id="19" name="Freeform 19"/>
            <p:cNvSpPr/>
            <p:nvPr/>
          </p:nvSpPr>
          <p:spPr>
            <a:xfrm>
              <a:off x="19050" y="19050"/>
              <a:ext cx="10590784" cy="2415159"/>
            </a:xfrm>
            <a:custGeom>
              <a:avLst/>
              <a:gdLst/>
              <a:ahLst/>
              <a:cxnLst/>
              <a:rect l="l" t="t" r="r" b="b"/>
              <a:pathLst>
                <a:path w="10590784" h="2415159">
                  <a:moveTo>
                    <a:pt x="0" y="47752"/>
                  </a:moveTo>
                  <a:cubicBezTo>
                    <a:pt x="0" y="21336"/>
                    <a:pt x="21590" y="0"/>
                    <a:pt x="48260" y="0"/>
                  </a:cubicBezTo>
                  <a:lnTo>
                    <a:pt x="10542524" y="0"/>
                  </a:lnTo>
                  <a:cubicBezTo>
                    <a:pt x="10569194" y="0"/>
                    <a:pt x="10590784" y="21336"/>
                    <a:pt x="10590784" y="47752"/>
                  </a:cubicBezTo>
                  <a:lnTo>
                    <a:pt x="10590784" y="2367407"/>
                  </a:lnTo>
                  <a:cubicBezTo>
                    <a:pt x="10590784" y="2393823"/>
                    <a:pt x="10569194" y="2415159"/>
                    <a:pt x="10542524" y="2415159"/>
                  </a:cubicBezTo>
                  <a:lnTo>
                    <a:pt x="48260" y="2415159"/>
                  </a:lnTo>
                  <a:cubicBezTo>
                    <a:pt x="21590" y="2415159"/>
                    <a:pt x="0" y="2393823"/>
                    <a:pt x="0" y="2367407"/>
                  </a:cubicBezTo>
                  <a:close/>
                </a:path>
              </a:pathLst>
            </a:custGeom>
            <a:solidFill>
              <a:srgbClr val="292C32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0628884" cy="2453259"/>
            </a:xfrm>
            <a:custGeom>
              <a:avLst/>
              <a:gdLst/>
              <a:ahLst/>
              <a:cxnLst/>
              <a:rect l="l" t="t" r="r" b="b"/>
              <a:pathLst>
                <a:path w="10628884" h="2453259">
                  <a:moveTo>
                    <a:pt x="0" y="66802"/>
                  </a:moveTo>
                  <a:cubicBezTo>
                    <a:pt x="0" y="29718"/>
                    <a:pt x="30353" y="0"/>
                    <a:pt x="67310" y="0"/>
                  </a:cubicBezTo>
                  <a:lnTo>
                    <a:pt x="10561574" y="0"/>
                  </a:lnTo>
                  <a:lnTo>
                    <a:pt x="10561574" y="19050"/>
                  </a:lnTo>
                  <a:lnTo>
                    <a:pt x="10561574" y="0"/>
                  </a:lnTo>
                  <a:cubicBezTo>
                    <a:pt x="10598531" y="0"/>
                    <a:pt x="10628884" y="29718"/>
                    <a:pt x="10628884" y="66802"/>
                  </a:cubicBezTo>
                  <a:lnTo>
                    <a:pt x="10609834" y="66802"/>
                  </a:lnTo>
                  <a:lnTo>
                    <a:pt x="10628884" y="66802"/>
                  </a:lnTo>
                  <a:lnTo>
                    <a:pt x="10628884" y="2386457"/>
                  </a:lnTo>
                  <a:lnTo>
                    <a:pt x="10609834" y="2386457"/>
                  </a:lnTo>
                  <a:lnTo>
                    <a:pt x="10628884" y="2386457"/>
                  </a:lnTo>
                  <a:cubicBezTo>
                    <a:pt x="10628884" y="2423541"/>
                    <a:pt x="10598531" y="2453259"/>
                    <a:pt x="10561574" y="2453259"/>
                  </a:cubicBezTo>
                  <a:lnTo>
                    <a:pt x="10561574" y="2434209"/>
                  </a:lnTo>
                  <a:lnTo>
                    <a:pt x="10561574" y="2453259"/>
                  </a:lnTo>
                  <a:lnTo>
                    <a:pt x="67310" y="2453259"/>
                  </a:lnTo>
                  <a:lnTo>
                    <a:pt x="67310" y="2434209"/>
                  </a:lnTo>
                  <a:lnTo>
                    <a:pt x="67310" y="2453259"/>
                  </a:lnTo>
                  <a:cubicBezTo>
                    <a:pt x="30353" y="2453259"/>
                    <a:pt x="0" y="2423541"/>
                    <a:pt x="0" y="2386457"/>
                  </a:cubicBezTo>
                  <a:lnTo>
                    <a:pt x="0" y="66802"/>
                  </a:lnTo>
                  <a:lnTo>
                    <a:pt x="19050" y="66802"/>
                  </a:lnTo>
                  <a:lnTo>
                    <a:pt x="0" y="66802"/>
                  </a:lnTo>
                  <a:moveTo>
                    <a:pt x="38100" y="66802"/>
                  </a:moveTo>
                  <a:lnTo>
                    <a:pt x="38100" y="2386457"/>
                  </a:lnTo>
                  <a:lnTo>
                    <a:pt x="19050" y="2386457"/>
                  </a:lnTo>
                  <a:lnTo>
                    <a:pt x="38100" y="2386457"/>
                  </a:lnTo>
                  <a:cubicBezTo>
                    <a:pt x="38100" y="2402078"/>
                    <a:pt x="50927" y="2415159"/>
                    <a:pt x="67310" y="2415159"/>
                  </a:cubicBezTo>
                  <a:lnTo>
                    <a:pt x="10561574" y="2415159"/>
                  </a:lnTo>
                  <a:cubicBezTo>
                    <a:pt x="10577957" y="2415159"/>
                    <a:pt x="10590784" y="2402078"/>
                    <a:pt x="10590784" y="2386457"/>
                  </a:cubicBezTo>
                  <a:lnTo>
                    <a:pt x="10590784" y="66802"/>
                  </a:lnTo>
                  <a:cubicBezTo>
                    <a:pt x="10590784" y="51181"/>
                    <a:pt x="10577957" y="38100"/>
                    <a:pt x="10561574" y="38100"/>
                  </a:cubicBezTo>
                  <a:lnTo>
                    <a:pt x="67310" y="38100"/>
                  </a:lnTo>
                  <a:lnTo>
                    <a:pt x="67310" y="19050"/>
                  </a:lnTo>
                  <a:lnTo>
                    <a:pt x="67310" y="38100"/>
                  </a:lnTo>
                  <a:cubicBezTo>
                    <a:pt x="50927" y="38100"/>
                    <a:pt x="38100" y="51181"/>
                    <a:pt x="38100" y="66802"/>
                  </a:cubicBezTo>
                  <a:close/>
                </a:path>
              </a:pathLst>
            </a:custGeom>
            <a:solidFill>
              <a:srgbClr val="61646A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1176928" y="6789239"/>
            <a:ext cx="3526041" cy="3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Lifestyle-Oriented Budget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6928" y="7315352"/>
            <a:ext cx="7408812" cy="760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Focuses on spending for lifestyle choices while ensuring financial health.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44628" y="2378716"/>
            <a:ext cx="6874516" cy="56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600" b="1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Allocate Budget into Categories</a:t>
            </a:r>
          </a:p>
        </p:txBody>
      </p:sp>
      <p:sp>
        <p:nvSpPr>
          <p:cNvPr id="24" name="Freeform 24" descr="preencoded.png"/>
          <p:cNvSpPr/>
          <p:nvPr/>
        </p:nvSpPr>
        <p:spPr>
          <a:xfrm>
            <a:off x="9444628" y="3210668"/>
            <a:ext cx="596656" cy="596656"/>
          </a:xfrm>
          <a:custGeom>
            <a:avLst/>
            <a:gdLst/>
            <a:ahLst/>
            <a:cxnLst/>
            <a:rect l="l" t="t" r="r" b="b"/>
            <a:pathLst>
              <a:path w="596656" h="596656">
                <a:moveTo>
                  <a:pt x="0" y="0"/>
                </a:moveTo>
                <a:lnTo>
                  <a:pt x="596656" y="0"/>
                </a:lnTo>
                <a:lnTo>
                  <a:pt x="596656" y="596655"/>
                </a:lnTo>
                <a:lnTo>
                  <a:pt x="0" y="596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586" b="-1586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9444628" y="4048868"/>
            <a:ext cx="2983411" cy="3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Transportation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13541721" y="3210668"/>
            <a:ext cx="596656" cy="596656"/>
          </a:xfrm>
          <a:custGeom>
            <a:avLst/>
            <a:gdLst/>
            <a:ahLst/>
            <a:cxnLst/>
            <a:rect l="l" t="t" r="r" b="b"/>
            <a:pathLst>
              <a:path w="596656" h="596656">
                <a:moveTo>
                  <a:pt x="0" y="0"/>
                </a:moveTo>
                <a:lnTo>
                  <a:pt x="596656" y="0"/>
                </a:lnTo>
                <a:lnTo>
                  <a:pt x="596656" y="596655"/>
                </a:lnTo>
                <a:lnTo>
                  <a:pt x="0" y="596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5397" r="-25395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3541721" y="4048868"/>
            <a:ext cx="2983411" cy="3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Recreation</a:t>
            </a:r>
          </a:p>
        </p:txBody>
      </p:sp>
      <p:sp>
        <p:nvSpPr>
          <p:cNvPr id="28" name="Freeform 28" descr="preencoded.png"/>
          <p:cNvSpPr/>
          <p:nvPr/>
        </p:nvSpPr>
        <p:spPr>
          <a:xfrm>
            <a:off x="9444628" y="4833042"/>
            <a:ext cx="596656" cy="596656"/>
          </a:xfrm>
          <a:custGeom>
            <a:avLst/>
            <a:gdLst/>
            <a:ahLst/>
            <a:cxnLst/>
            <a:rect l="l" t="t" r="r" b="b"/>
            <a:pathLst>
              <a:path w="596656" h="596656">
                <a:moveTo>
                  <a:pt x="0" y="0"/>
                </a:moveTo>
                <a:lnTo>
                  <a:pt x="596656" y="0"/>
                </a:lnTo>
                <a:lnTo>
                  <a:pt x="596656" y="596656"/>
                </a:lnTo>
                <a:lnTo>
                  <a:pt x="0" y="596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762" r="-4760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9444628" y="5671242"/>
            <a:ext cx="2983411" cy="3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Investment</a:t>
            </a:r>
          </a:p>
        </p:txBody>
      </p:sp>
      <p:sp>
        <p:nvSpPr>
          <p:cNvPr id="30" name="Freeform 30" descr="preencoded.png"/>
          <p:cNvSpPr/>
          <p:nvPr/>
        </p:nvSpPr>
        <p:spPr>
          <a:xfrm>
            <a:off x="13541721" y="4833042"/>
            <a:ext cx="596656" cy="596656"/>
          </a:xfrm>
          <a:custGeom>
            <a:avLst/>
            <a:gdLst/>
            <a:ahLst/>
            <a:cxnLst/>
            <a:rect l="l" t="t" r="r" b="b"/>
            <a:pathLst>
              <a:path w="596656" h="596656">
                <a:moveTo>
                  <a:pt x="0" y="0"/>
                </a:moveTo>
                <a:lnTo>
                  <a:pt x="596656" y="0"/>
                </a:lnTo>
                <a:lnTo>
                  <a:pt x="596656" y="596656"/>
                </a:lnTo>
                <a:lnTo>
                  <a:pt x="0" y="5966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2380" b="-2381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3541721" y="5671242"/>
            <a:ext cx="2983411" cy="3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Savings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09790" y="8737702"/>
            <a:ext cx="16468430" cy="40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System adjusts spending based on financial condition.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46699" y="825703"/>
            <a:ext cx="2858986" cy="500358"/>
            <a:chOff x="0" y="0"/>
            <a:chExt cx="3811981" cy="6671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812032" cy="667131"/>
            </a:xfrm>
            <a:custGeom>
              <a:avLst/>
              <a:gdLst/>
              <a:ahLst/>
              <a:cxnLst/>
              <a:rect l="l" t="t" r="r" b="b"/>
              <a:pathLst>
                <a:path w="3812032" h="667131">
                  <a:moveTo>
                    <a:pt x="0" y="43307"/>
                  </a:moveTo>
                  <a:cubicBezTo>
                    <a:pt x="0" y="19431"/>
                    <a:pt x="19431" y="0"/>
                    <a:pt x="43307" y="0"/>
                  </a:cubicBezTo>
                  <a:lnTo>
                    <a:pt x="3768725" y="0"/>
                  </a:lnTo>
                  <a:cubicBezTo>
                    <a:pt x="3792601" y="0"/>
                    <a:pt x="3812032" y="19431"/>
                    <a:pt x="3812032" y="43307"/>
                  </a:cubicBezTo>
                  <a:lnTo>
                    <a:pt x="3812032" y="623824"/>
                  </a:lnTo>
                  <a:cubicBezTo>
                    <a:pt x="3812032" y="647700"/>
                    <a:pt x="3792601" y="667131"/>
                    <a:pt x="3768725" y="667131"/>
                  </a:cubicBezTo>
                  <a:lnTo>
                    <a:pt x="43307" y="667131"/>
                  </a:lnTo>
                  <a:cubicBezTo>
                    <a:pt x="19431" y="667131"/>
                    <a:pt x="0" y="647827"/>
                    <a:pt x="0" y="623824"/>
                  </a:cubicBezTo>
                  <a:close/>
                </a:path>
              </a:pathLst>
            </a:custGeom>
            <a:solidFill>
              <a:srgbClr val="4D1F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08920" y="840134"/>
            <a:ext cx="2534545" cy="404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TECHNICAL FOUNDATION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6699" y="1400623"/>
            <a:ext cx="10698661" cy="704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50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The Building Blocks: Tools &amp; Core Concepts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339606" y="2492427"/>
            <a:ext cx="8777135" cy="478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87" b="1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Programming Language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6699" y="3016891"/>
            <a:ext cx="16394611" cy="9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b="1">
                <a:solidFill>
                  <a:srgbClr val="D4D4D1"/>
                </a:solidFill>
                <a:latin typeface="Roboto Bold"/>
                <a:ea typeface="Roboto Bold"/>
                <a:cs typeface="Roboto Bold"/>
                <a:sym typeface="Roboto Bold"/>
              </a:rPr>
              <a:t>C Programming</a:t>
            </a:r>
            <a:r>
              <a:rPr lang="en-US" sz="212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: Chosen for its efficiency, low-level memory management capabilities, and widespread use in system programming, providing a robust foundation for our tool.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46699" y="4373670"/>
            <a:ext cx="16394611" cy="43310"/>
            <a:chOff x="0" y="0"/>
            <a:chExt cx="21859481" cy="577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859494" cy="57785"/>
            </a:xfrm>
            <a:custGeom>
              <a:avLst/>
              <a:gdLst/>
              <a:ahLst/>
              <a:cxnLst/>
              <a:rect l="l" t="t" r="r" b="b"/>
              <a:pathLst>
                <a:path w="21859494" h="57785">
                  <a:moveTo>
                    <a:pt x="0" y="0"/>
                  </a:moveTo>
                  <a:lnTo>
                    <a:pt x="21859494" y="0"/>
                  </a:lnTo>
                  <a:lnTo>
                    <a:pt x="21859494" y="57785"/>
                  </a:lnTo>
                  <a:lnTo>
                    <a:pt x="0" y="57785"/>
                  </a:lnTo>
                  <a:close/>
                </a:path>
              </a:pathLst>
            </a:custGeom>
            <a:solidFill>
              <a:srgbClr val="D4D4D1">
                <a:alpha val="24706"/>
              </a:srgbClr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46699" y="4784969"/>
            <a:ext cx="6989121" cy="526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3187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Key C Programming Concepts Utilised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6699" y="5698179"/>
            <a:ext cx="8068266" cy="1963941"/>
            <a:chOff x="0" y="0"/>
            <a:chExt cx="10757687" cy="26185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57662" cy="2618613"/>
            </a:xfrm>
            <a:custGeom>
              <a:avLst/>
              <a:gdLst/>
              <a:ahLst/>
              <a:cxnLst/>
              <a:rect l="l" t="t" r="r" b="b"/>
              <a:pathLst>
                <a:path w="10757662" h="2618613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0703560" y="0"/>
                  </a:lnTo>
                  <a:cubicBezTo>
                    <a:pt x="10733405" y="0"/>
                    <a:pt x="10757662" y="24257"/>
                    <a:pt x="10757662" y="54102"/>
                  </a:cubicBezTo>
                  <a:lnTo>
                    <a:pt x="10757662" y="2564511"/>
                  </a:lnTo>
                  <a:cubicBezTo>
                    <a:pt x="10757662" y="2594356"/>
                    <a:pt x="10733405" y="2618613"/>
                    <a:pt x="10703560" y="2618613"/>
                  </a:cubicBezTo>
                  <a:lnTo>
                    <a:pt x="54102" y="2618613"/>
                  </a:lnTo>
                  <a:cubicBezTo>
                    <a:pt x="24257" y="2618613"/>
                    <a:pt x="0" y="2594356"/>
                    <a:pt x="0" y="2564511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17114" y="5949553"/>
            <a:ext cx="3381375" cy="44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Variables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7114" y="6460331"/>
            <a:ext cx="7527427" cy="931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For storing financial data like amounts, dates, and descriptions.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73035" y="5698179"/>
            <a:ext cx="8068266" cy="1963941"/>
            <a:chOff x="0" y="0"/>
            <a:chExt cx="10757687" cy="26185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57662" cy="2618613"/>
            </a:xfrm>
            <a:custGeom>
              <a:avLst/>
              <a:gdLst/>
              <a:ahLst/>
              <a:cxnLst/>
              <a:rect l="l" t="t" r="r" b="b"/>
              <a:pathLst>
                <a:path w="10757662" h="2618613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10703560" y="0"/>
                  </a:lnTo>
                  <a:cubicBezTo>
                    <a:pt x="10733405" y="0"/>
                    <a:pt x="10757662" y="24257"/>
                    <a:pt x="10757662" y="54102"/>
                  </a:cubicBezTo>
                  <a:lnTo>
                    <a:pt x="10757662" y="2564511"/>
                  </a:lnTo>
                  <a:cubicBezTo>
                    <a:pt x="10757662" y="2594356"/>
                    <a:pt x="10733405" y="2618613"/>
                    <a:pt x="10703560" y="2618613"/>
                  </a:cubicBezTo>
                  <a:lnTo>
                    <a:pt x="54102" y="2618613"/>
                  </a:lnTo>
                  <a:cubicBezTo>
                    <a:pt x="24257" y="2618613"/>
                    <a:pt x="0" y="2594356"/>
                    <a:pt x="0" y="2564511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543459" y="5949553"/>
            <a:ext cx="4858341" cy="402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 dirty="0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Conditional statements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43459" y="6460331"/>
            <a:ext cx="7527427" cy="808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If-else statements and switch cases were used to handles multiple simultaneous cases.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46699" y="7920190"/>
            <a:ext cx="16394611" cy="1541116"/>
            <a:chOff x="0" y="0"/>
            <a:chExt cx="21859481" cy="20548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1859494" cy="2054860"/>
            </a:xfrm>
            <a:custGeom>
              <a:avLst/>
              <a:gdLst/>
              <a:ahLst/>
              <a:cxnLst/>
              <a:rect l="l" t="t" r="r" b="b"/>
              <a:pathLst>
                <a:path w="21859494" h="2054860">
                  <a:moveTo>
                    <a:pt x="0" y="54102"/>
                  </a:moveTo>
                  <a:cubicBezTo>
                    <a:pt x="0" y="24257"/>
                    <a:pt x="24257" y="0"/>
                    <a:pt x="54102" y="0"/>
                  </a:cubicBezTo>
                  <a:lnTo>
                    <a:pt x="21805392" y="0"/>
                  </a:lnTo>
                  <a:cubicBezTo>
                    <a:pt x="21835236" y="0"/>
                    <a:pt x="21859494" y="24257"/>
                    <a:pt x="21859494" y="54102"/>
                  </a:cubicBezTo>
                  <a:lnTo>
                    <a:pt x="21859494" y="2000758"/>
                  </a:lnTo>
                  <a:cubicBezTo>
                    <a:pt x="21859494" y="2030603"/>
                    <a:pt x="21835236" y="2054860"/>
                    <a:pt x="21805392" y="2054860"/>
                  </a:cubicBezTo>
                  <a:lnTo>
                    <a:pt x="54102" y="2054860"/>
                  </a:lnTo>
                  <a:cubicBezTo>
                    <a:pt x="24257" y="2054860"/>
                    <a:pt x="0" y="2030603"/>
                    <a:pt x="0" y="2000758"/>
                  </a:cubicBezTo>
                  <a:close/>
                </a:path>
              </a:pathLst>
            </a:custGeom>
            <a:solidFill>
              <a:srgbClr val="484B51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217114" y="8171555"/>
            <a:ext cx="3381375" cy="441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25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Functions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7114" y="8682333"/>
            <a:ext cx="15853772" cy="508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25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To modularise code, managing specific tasks like adding income, recording expenses, or calculating totals.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79029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704698"/>
            <a:ext cx="2540498" cy="541592"/>
            <a:chOff x="0" y="0"/>
            <a:chExt cx="3387331" cy="7221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87408" cy="722173"/>
            </a:xfrm>
            <a:custGeom>
              <a:avLst/>
              <a:gdLst/>
              <a:ahLst/>
              <a:cxnLst/>
              <a:rect l="l" t="t" r="r" b="b"/>
              <a:pathLst>
                <a:path w="3387408" h="722173">
                  <a:moveTo>
                    <a:pt x="0" y="51798"/>
                  </a:moveTo>
                  <a:cubicBezTo>
                    <a:pt x="0" y="23139"/>
                    <a:pt x="19347" y="0"/>
                    <a:pt x="43308" y="0"/>
                  </a:cubicBezTo>
                  <a:lnTo>
                    <a:pt x="3344130" y="0"/>
                  </a:lnTo>
                  <a:cubicBezTo>
                    <a:pt x="3368091" y="0"/>
                    <a:pt x="3387408" y="23139"/>
                    <a:pt x="3387408" y="51798"/>
                  </a:cubicBezTo>
                  <a:lnTo>
                    <a:pt x="3387408" y="670408"/>
                  </a:lnTo>
                  <a:cubicBezTo>
                    <a:pt x="3387408" y="699067"/>
                    <a:pt x="3368091" y="722173"/>
                    <a:pt x="3344130" y="722173"/>
                  </a:cubicBezTo>
                  <a:lnTo>
                    <a:pt x="43308" y="722173"/>
                  </a:lnTo>
                  <a:cubicBezTo>
                    <a:pt x="19347" y="722173"/>
                    <a:pt x="0" y="698855"/>
                    <a:pt x="0" y="670408"/>
                  </a:cubicBezTo>
                  <a:close/>
                </a:path>
              </a:pathLst>
            </a:custGeom>
            <a:solidFill>
              <a:srgbClr val="4D1F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41052" y="824714"/>
            <a:ext cx="2115794" cy="263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4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CORE FUNCTIONALITY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505845"/>
            <a:ext cx="6625676" cy="49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3000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Features of the Personal Finance Tool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2265759"/>
            <a:ext cx="967083" cy="1053408"/>
            <a:chOff x="0" y="0"/>
            <a:chExt cx="1289444" cy="1404544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289431" cy="1404493"/>
            </a:xfrm>
            <a:custGeom>
              <a:avLst/>
              <a:gdLst/>
              <a:ahLst/>
              <a:cxnLst/>
              <a:rect l="l" t="t" r="r" b="b"/>
              <a:pathLst>
                <a:path w="1289431" h="1404493">
                  <a:moveTo>
                    <a:pt x="0" y="0"/>
                  </a:moveTo>
                  <a:lnTo>
                    <a:pt x="1289431" y="0"/>
                  </a:lnTo>
                  <a:lnTo>
                    <a:pt x="1289431" y="1404493"/>
                  </a:lnTo>
                  <a:lnTo>
                    <a:pt x="0" y="1404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7" r="-48" b="-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2141957" y="2237184"/>
            <a:ext cx="12248407" cy="28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Accept Income Details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1957" y="2553748"/>
            <a:ext cx="12248407" cy="57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The system allows the user to enter all sources of monthly income, including primary and secondary income, and calculates the total monthly income.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3636321"/>
            <a:ext cx="967083" cy="1132580"/>
            <a:chOff x="0" y="0"/>
            <a:chExt cx="1289444" cy="1510106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1289431" cy="1510157"/>
            </a:xfrm>
            <a:custGeom>
              <a:avLst/>
              <a:gdLst/>
              <a:ahLst/>
              <a:cxnLst/>
              <a:rect l="l" t="t" r="r" b="b"/>
              <a:pathLst>
                <a:path w="1289431" h="1510157">
                  <a:moveTo>
                    <a:pt x="0" y="0"/>
                  </a:moveTo>
                  <a:lnTo>
                    <a:pt x="1289431" y="0"/>
                  </a:lnTo>
                  <a:lnTo>
                    <a:pt x="1289431" y="1510157"/>
                  </a:lnTo>
                  <a:lnTo>
                    <a:pt x="0" y="1510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1" r="-193" b="3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2141957" y="3677486"/>
            <a:ext cx="12248407" cy="28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Accept Fixed Expense Details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41957" y="4043886"/>
            <a:ext cx="12248407" cy="57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The system collects details of fixed monthly expenses such as EMIs, rent, utilities, and insurance, and calculates the total fixed expenditure.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5035296"/>
            <a:ext cx="967083" cy="1053408"/>
            <a:chOff x="0" y="0"/>
            <a:chExt cx="1289444" cy="1404544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1289431" cy="1404493"/>
            </a:xfrm>
            <a:custGeom>
              <a:avLst/>
              <a:gdLst/>
              <a:ahLst/>
              <a:cxnLst/>
              <a:rect l="l" t="t" r="r" b="b"/>
              <a:pathLst>
                <a:path w="1289431" h="1404493">
                  <a:moveTo>
                    <a:pt x="0" y="0"/>
                  </a:moveTo>
                  <a:lnTo>
                    <a:pt x="1289431" y="0"/>
                  </a:lnTo>
                  <a:lnTo>
                    <a:pt x="1289431" y="1404493"/>
                  </a:lnTo>
                  <a:lnTo>
                    <a:pt x="0" y="1404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7" r="-48" b="-3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2141957" y="5063804"/>
            <a:ext cx="12248407" cy="28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Validate Financial Inputs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41957" y="5377918"/>
            <a:ext cx="12248407" cy="57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The system validates all user inputs to ensure that values are non-negative and that total fixed expenses do not exceed the total monthly income.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28700" y="6402286"/>
            <a:ext cx="967083" cy="1227534"/>
            <a:chOff x="0" y="0"/>
            <a:chExt cx="1289444" cy="1636712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1289431" cy="1636751"/>
            </a:xfrm>
            <a:custGeom>
              <a:avLst/>
              <a:gdLst/>
              <a:ahLst/>
              <a:cxnLst/>
              <a:rect l="l" t="t" r="r" b="b"/>
              <a:pathLst>
                <a:path w="1289431" h="1636751">
                  <a:moveTo>
                    <a:pt x="0" y="0"/>
                  </a:moveTo>
                  <a:lnTo>
                    <a:pt x="1289431" y="0"/>
                  </a:lnTo>
                  <a:lnTo>
                    <a:pt x="1289431" y="1636751"/>
                  </a:lnTo>
                  <a:lnTo>
                    <a:pt x="0" y="1636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469" t="-2" r="-13470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2141957" y="6501656"/>
            <a:ext cx="12248407" cy="28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Calculate Remaining Disposable Income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1957" y="6858996"/>
            <a:ext cx="12248407" cy="28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The system calculates the remaining income available for budgeting after deducting fixed expenses from total income.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28700" y="7709002"/>
            <a:ext cx="967083" cy="1392879"/>
            <a:chOff x="0" y="0"/>
            <a:chExt cx="1289444" cy="1857172"/>
          </a:xfrm>
        </p:grpSpPr>
        <p:sp>
          <p:nvSpPr>
            <p:cNvPr id="27" name="Freeform 27" descr="preencoded.png"/>
            <p:cNvSpPr/>
            <p:nvPr/>
          </p:nvSpPr>
          <p:spPr>
            <a:xfrm>
              <a:off x="0" y="0"/>
              <a:ext cx="1289431" cy="1857121"/>
            </a:xfrm>
            <a:custGeom>
              <a:avLst/>
              <a:gdLst/>
              <a:ahLst/>
              <a:cxnLst/>
              <a:rect l="l" t="t" r="r" b="b"/>
              <a:pathLst>
                <a:path w="1289431" h="1857121">
                  <a:moveTo>
                    <a:pt x="0" y="0"/>
                  </a:moveTo>
                  <a:lnTo>
                    <a:pt x="1289431" y="0"/>
                  </a:lnTo>
                  <a:lnTo>
                    <a:pt x="1289431" y="1857121"/>
                  </a:lnTo>
                  <a:lnTo>
                    <a:pt x="0" y="1857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11" r="-313" b="-2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2141957" y="7810576"/>
            <a:ext cx="12248407" cy="28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Allocate Budget into Categories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41957" y="8175650"/>
            <a:ext cx="12248407" cy="571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1699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Based on the selected budgeting model, the system divides the remaining income into different categories such as food, transportation, recreation, investment, and savings.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2242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92C3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77798" y="768248"/>
            <a:ext cx="2834583" cy="522532"/>
            <a:chOff x="0" y="0"/>
            <a:chExt cx="3779444" cy="69670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779393" cy="696722"/>
            </a:xfrm>
            <a:custGeom>
              <a:avLst/>
              <a:gdLst/>
              <a:ahLst/>
              <a:cxnLst/>
              <a:rect l="l" t="t" r="r" b="b"/>
              <a:pathLst>
                <a:path w="3779393" h="696722">
                  <a:moveTo>
                    <a:pt x="0" y="44704"/>
                  </a:moveTo>
                  <a:cubicBezTo>
                    <a:pt x="0" y="20066"/>
                    <a:pt x="20066" y="0"/>
                    <a:pt x="44704" y="0"/>
                  </a:cubicBezTo>
                  <a:lnTo>
                    <a:pt x="3734689" y="0"/>
                  </a:lnTo>
                  <a:cubicBezTo>
                    <a:pt x="3759327" y="0"/>
                    <a:pt x="3779393" y="20066"/>
                    <a:pt x="3779393" y="44704"/>
                  </a:cubicBezTo>
                  <a:lnTo>
                    <a:pt x="3779393" y="652018"/>
                  </a:lnTo>
                  <a:cubicBezTo>
                    <a:pt x="3779393" y="676656"/>
                    <a:pt x="3759327" y="696722"/>
                    <a:pt x="3734689" y="696722"/>
                  </a:cubicBezTo>
                  <a:lnTo>
                    <a:pt x="44704" y="696722"/>
                  </a:lnTo>
                  <a:cubicBezTo>
                    <a:pt x="20066" y="696722"/>
                    <a:pt x="0" y="676656"/>
                    <a:pt x="0" y="652018"/>
                  </a:cubicBezTo>
                  <a:close/>
                </a:path>
              </a:pathLst>
            </a:custGeom>
            <a:solidFill>
              <a:srgbClr val="4D1F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45381" y="785365"/>
            <a:ext cx="2499417" cy="421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0"/>
              </a:lnSpc>
            </a:pPr>
            <a:r>
              <a:rPr lang="en-US" sz="175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SYSTEM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7798" y="1381716"/>
            <a:ext cx="8419062" cy="71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Understanding the Program Flow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793502" y="2511923"/>
            <a:ext cx="12700845" cy="5812784"/>
            <a:chOff x="0" y="0"/>
            <a:chExt cx="16934459" cy="7750378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16934435" cy="7750429"/>
            </a:xfrm>
            <a:custGeom>
              <a:avLst/>
              <a:gdLst/>
              <a:ahLst/>
              <a:cxnLst/>
              <a:rect l="l" t="t" r="r" b="b"/>
              <a:pathLst>
                <a:path w="16934435" h="7750429">
                  <a:moveTo>
                    <a:pt x="0" y="0"/>
                  </a:moveTo>
                  <a:lnTo>
                    <a:pt x="16934435" y="0"/>
                  </a:lnTo>
                  <a:lnTo>
                    <a:pt x="16934435" y="7750429"/>
                  </a:lnTo>
                  <a:lnTo>
                    <a:pt x="0" y="7750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" r="-6"/>
              </a:stretch>
            </a:blip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13246160" y="3963219"/>
            <a:ext cx="816607" cy="816607"/>
          </a:xfrm>
          <a:custGeom>
            <a:avLst/>
            <a:gdLst/>
            <a:ahLst/>
            <a:cxnLst/>
            <a:rect l="l" t="t" r="r" b="b"/>
            <a:pathLst>
              <a:path w="816607" h="816607">
                <a:moveTo>
                  <a:pt x="0" y="0"/>
                </a:moveTo>
                <a:lnTo>
                  <a:pt x="816607" y="0"/>
                </a:lnTo>
                <a:lnTo>
                  <a:pt x="816607" y="816607"/>
                </a:lnTo>
                <a:lnTo>
                  <a:pt x="0" y="8166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62" r="-1162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518612" y="6934819"/>
            <a:ext cx="2384498" cy="46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Summary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0256606" y="3964743"/>
            <a:ext cx="816607" cy="816607"/>
          </a:xfrm>
          <a:custGeom>
            <a:avLst/>
            <a:gdLst/>
            <a:ahLst/>
            <a:cxnLst/>
            <a:rect l="l" t="t" r="r" b="b"/>
            <a:pathLst>
              <a:path w="816607" h="816607">
                <a:moveTo>
                  <a:pt x="0" y="0"/>
                </a:moveTo>
                <a:lnTo>
                  <a:pt x="816607" y="0"/>
                </a:lnTo>
                <a:lnTo>
                  <a:pt x="816607" y="816607"/>
                </a:lnTo>
                <a:lnTo>
                  <a:pt x="0" y="816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9884" b="-9883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513494" y="6934819"/>
            <a:ext cx="2384498" cy="46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Calculate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7267813" y="3964743"/>
            <a:ext cx="816607" cy="816607"/>
          </a:xfrm>
          <a:custGeom>
            <a:avLst/>
            <a:gdLst/>
            <a:ahLst/>
            <a:cxnLst/>
            <a:rect l="l" t="t" r="r" b="b"/>
            <a:pathLst>
              <a:path w="816607" h="816607">
                <a:moveTo>
                  <a:pt x="0" y="0"/>
                </a:moveTo>
                <a:lnTo>
                  <a:pt x="816607" y="0"/>
                </a:lnTo>
                <a:lnTo>
                  <a:pt x="816607" y="816607"/>
                </a:lnTo>
                <a:lnTo>
                  <a:pt x="0" y="8166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2093" r="-22093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524701" y="6934819"/>
            <a:ext cx="2384498" cy="46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Enter Data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4262695" y="3964743"/>
            <a:ext cx="816607" cy="816607"/>
          </a:xfrm>
          <a:custGeom>
            <a:avLst/>
            <a:gdLst/>
            <a:ahLst/>
            <a:cxnLst/>
            <a:rect l="l" t="t" r="r" b="b"/>
            <a:pathLst>
              <a:path w="816607" h="816607">
                <a:moveTo>
                  <a:pt x="0" y="0"/>
                </a:moveTo>
                <a:lnTo>
                  <a:pt x="816607" y="0"/>
                </a:lnTo>
                <a:lnTo>
                  <a:pt x="816607" y="816607"/>
                </a:lnTo>
                <a:lnTo>
                  <a:pt x="0" y="816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0465" b="-1046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470586" y="6934819"/>
            <a:ext cx="2384498" cy="468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874" b="1">
                <a:solidFill>
                  <a:srgbClr val="D4D4D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Select Menu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7798" y="8548535"/>
            <a:ext cx="16332403" cy="973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187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This sequential flow ensures a logical and intuitive user experience, guiding them through the finance management process from input to summary.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575561"/>
            <a:ext cx="8530868" cy="9135878"/>
            <a:chOff x="0" y="0"/>
            <a:chExt cx="11374490" cy="121811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374490" cy="12181170"/>
            </a:xfrm>
            <a:custGeom>
              <a:avLst/>
              <a:gdLst/>
              <a:ahLst/>
              <a:cxnLst/>
              <a:rect l="l" t="t" r="r" b="b"/>
              <a:pathLst>
                <a:path w="11374490" h="12181170">
                  <a:moveTo>
                    <a:pt x="0" y="0"/>
                  </a:moveTo>
                  <a:lnTo>
                    <a:pt x="11374490" y="0"/>
                  </a:lnTo>
                  <a:lnTo>
                    <a:pt x="11374490" y="12181170"/>
                  </a:lnTo>
                  <a:lnTo>
                    <a:pt x="0" y="12181170"/>
                  </a:lnTo>
                  <a:close/>
                </a:path>
              </a:pathLst>
            </a:custGeom>
            <a:blipFill>
              <a:blip r:embed="rId2"/>
              <a:stretch>
                <a:fillRect l="-1440" t="-11327" r="-720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9724" y="715932"/>
            <a:ext cx="2285710" cy="643090"/>
            <a:chOff x="0" y="0"/>
            <a:chExt cx="3047614" cy="8574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47665" cy="857529"/>
            </a:xfrm>
            <a:custGeom>
              <a:avLst/>
              <a:gdLst/>
              <a:ahLst/>
              <a:cxnLst/>
              <a:rect l="l" t="t" r="r" b="b"/>
              <a:pathLst>
                <a:path w="3047665" h="857529">
                  <a:moveTo>
                    <a:pt x="0" y="59930"/>
                  </a:moveTo>
                  <a:cubicBezTo>
                    <a:pt x="0" y="26835"/>
                    <a:pt x="22144" y="0"/>
                    <a:pt x="49454" y="0"/>
                  </a:cubicBezTo>
                  <a:lnTo>
                    <a:pt x="2998234" y="0"/>
                  </a:lnTo>
                  <a:cubicBezTo>
                    <a:pt x="3025544" y="0"/>
                    <a:pt x="3047665" y="26835"/>
                    <a:pt x="3047665" y="59930"/>
                  </a:cubicBezTo>
                  <a:lnTo>
                    <a:pt x="3047665" y="797657"/>
                  </a:lnTo>
                  <a:cubicBezTo>
                    <a:pt x="3047665" y="830753"/>
                    <a:pt x="3025544" y="857529"/>
                    <a:pt x="2998234" y="857529"/>
                  </a:cubicBezTo>
                  <a:lnTo>
                    <a:pt x="49454" y="857529"/>
                  </a:lnTo>
                  <a:cubicBezTo>
                    <a:pt x="22144" y="857364"/>
                    <a:pt x="0" y="830753"/>
                    <a:pt x="0" y="797657"/>
                  </a:cubicBezTo>
                  <a:close/>
                </a:path>
              </a:pathLst>
            </a:custGeom>
            <a:solidFill>
              <a:srgbClr val="4D1F0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434501" y="4113014"/>
            <a:ext cx="4816231" cy="4184152"/>
            <a:chOff x="0" y="0"/>
            <a:chExt cx="6421641" cy="55788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21628" cy="5578856"/>
            </a:xfrm>
            <a:custGeom>
              <a:avLst/>
              <a:gdLst/>
              <a:ahLst/>
              <a:cxnLst/>
              <a:rect l="l" t="t" r="r" b="b"/>
              <a:pathLst>
                <a:path w="6421628" h="5578856">
                  <a:moveTo>
                    <a:pt x="0" y="42545"/>
                  </a:moveTo>
                  <a:cubicBezTo>
                    <a:pt x="0" y="19050"/>
                    <a:pt x="19050" y="0"/>
                    <a:pt x="42545" y="0"/>
                  </a:cubicBezTo>
                  <a:lnTo>
                    <a:pt x="6379083" y="0"/>
                  </a:lnTo>
                  <a:cubicBezTo>
                    <a:pt x="6402578" y="0"/>
                    <a:pt x="6421628" y="19050"/>
                    <a:pt x="6421628" y="42545"/>
                  </a:cubicBezTo>
                  <a:lnTo>
                    <a:pt x="6421628" y="5536311"/>
                  </a:lnTo>
                  <a:cubicBezTo>
                    <a:pt x="6421628" y="5559806"/>
                    <a:pt x="6402578" y="5578856"/>
                    <a:pt x="6379083" y="5578856"/>
                  </a:cubicBezTo>
                  <a:lnTo>
                    <a:pt x="42545" y="5578856"/>
                  </a:lnTo>
                  <a:cubicBezTo>
                    <a:pt x="19050" y="5578856"/>
                    <a:pt x="0" y="5559806"/>
                    <a:pt x="0" y="5536311"/>
                  </a:cubicBezTo>
                  <a:close/>
                </a:path>
              </a:pathLst>
            </a:custGeom>
            <a:solidFill>
              <a:srgbClr val="36393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775908" y="845140"/>
            <a:ext cx="2073341" cy="337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1"/>
              </a:lnSpc>
            </a:pPr>
            <a:r>
              <a:rPr lang="en-US" sz="1912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USER INTERFACE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501" y="1592683"/>
            <a:ext cx="7970520" cy="64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sz="4000" b="1" dirty="0">
                <a:solidFill>
                  <a:srgbClr val="F3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Interactive Menu: Sample 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4501" y="2426282"/>
            <a:ext cx="8193646" cy="125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8"/>
              </a:lnSpc>
            </a:pPr>
            <a:r>
              <a:rPr lang="en-US" sz="2324" dirty="0">
                <a:solidFill>
                  <a:srgbClr val="D4D4D1"/>
                </a:solidFill>
                <a:latin typeface="Roboto"/>
                <a:ea typeface="Roboto"/>
                <a:cs typeface="Roboto"/>
                <a:sym typeface="Roboto"/>
              </a:rPr>
              <a:t>Our tool presents a simple, menu-driven interface, allowing users to easily navigate through various functionalities. Here is an example of the command-line interface: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3513" y="4238302"/>
            <a:ext cx="4391473" cy="3735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</a:t>
            </a: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  Personal Finance Manager</a:t>
            </a: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=================================</a:t>
            </a: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1. Add Income</a:t>
            </a: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2. Add Expense</a:t>
            </a: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3. View Current Balance</a:t>
            </a: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4. View Financial Summary</a:t>
            </a: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5. Save Data</a:t>
            </a: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6. Load Data</a:t>
            </a: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7. Exit</a:t>
            </a:r>
          </a:p>
          <a:p>
            <a:pPr algn="l">
              <a:lnSpc>
                <a:spcPts val="2312"/>
              </a:lnSpc>
            </a:pPr>
            <a:endParaRPr lang="en-US" sz="1625">
              <a:solidFill>
                <a:srgbClr val="D4D4D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D4D4D1"/>
                </a:solidFill>
                <a:latin typeface="Consolas"/>
                <a:ea typeface="Consolas"/>
                <a:cs typeface="Consolas"/>
                <a:sym typeface="Consolas"/>
              </a:rPr>
              <a:t>Enter your choice: _</a:t>
            </a:r>
          </a:p>
          <a:p>
            <a:pPr algn="l">
              <a:lnSpc>
                <a:spcPts val="2312"/>
              </a:lnSpc>
            </a:pPr>
            <a:endParaRPr lang="en-US" sz="1625">
              <a:solidFill>
                <a:srgbClr val="D4D4D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28310" y="4045450"/>
            <a:ext cx="6629400" cy="1520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5"/>
              </a:lnSpc>
              <a:spcBef>
                <a:spcPct val="0"/>
              </a:spcBef>
            </a:pPr>
            <a:r>
              <a:rPr lang="en-US" sz="9199" b="1" i="1">
                <a:solidFill>
                  <a:srgbClr val="FFFFF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571</Words>
  <Application>Microsoft Office PowerPoint</Application>
  <PresentationFormat>Custom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Roboto Bold Italics</vt:lpstr>
      <vt:lpstr>IBM Plex Sans Medium</vt:lpstr>
      <vt:lpstr>Consolas</vt:lpstr>
      <vt:lpstr>Roboto</vt:lpstr>
      <vt:lpstr>Arial</vt:lpstr>
      <vt:lpstr>Roboto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amount is used for budgeting.</dc:title>
  <cp:lastModifiedBy>Arnav Raghuvanshi</cp:lastModifiedBy>
  <cp:revision>3</cp:revision>
  <dcterms:created xsi:type="dcterms:W3CDTF">2006-08-16T00:00:00Z</dcterms:created>
  <dcterms:modified xsi:type="dcterms:W3CDTF">2026-02-18T03:55:00Z</dcterms:modified>
  <dc:identifier>DAHBmMwytXM</dc:identifier>
</cp:coreProperties>
</file>